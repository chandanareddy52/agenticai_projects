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54FEE-39B6-4033-A630-578B68F86D7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7905E-1B15-435A-9C1C-F0EB49122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99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7905E-1B15-435A-9C1C-F0EB4912235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686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7905E-1B15-435A-9C1C-F0EB4912235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307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889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PROBLEM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77724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  <a:latin typeface="Calibri"/>
              </a:rPr>
              <a:t>The Support Data Problem
at </a:t>
            </a:r>
            <a:r>
              <a:rPr sz="3800" b="1" i="0" dirty="0" err="1">
                <a:solidFill>
                  <a:srgbClr val="FFFFFF"/>
                </a:solidFill>
                <a:latin typeface="Calibri"/>
              </a:rPr>
              <a:t>GlobalFoods</a:t>
            </a:r>
            <a:r>
              <a:rPr lang="en-IN" sz="3800" b="1" i="0" dirty="0">
                <a:solidFill>
                  <a:srgbClr val="FFFFFF"/>
                </a:solidFill>
                <a:latin typeface="Calibri"/>
              </a:rPr>
              <a:t> Inc.</a:t>
            </a:r>
            <a:endParaRPr sz="3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2057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CED"/>
                </a:solidFill>
                <a:latin typeface="Calibri"/>
              </a:rPr>
              <a:t>High-volume, distributed, low-visibility operations — tickets pile up
with no system to connect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24871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Field reps + warehouses across low-connectivity zones. Orders placed offline.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3520440"/>
            <a:ext cx="24871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100s of tickets per week. No tagging, no pattern detection, no triage logic.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520440"/>
            <a:ext cx="24871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Support teams cannot correlate issues across customers or time windows.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3" y="3520440"/>
            <a:ext cx="24871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Every issue is treated in isolation. Escalations happen after damage is done.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0" y="651052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CED"/>
                </a:solidFill>
                <a:latin typeface="Calibri"/>
              </a:rPr>
              <a:t>1 /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401568"/>
            <a:ext cx="24871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Field reps + warehouses across low-connectivity zones. Orders placed offline.
Some reps cover 50+ stops with zero connectivity for hours.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8728" y="3401568"/>
            <a:ext cx="24871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100s of tickets per week. No tagging, no pattern detection, no triage logic.
Every ticket is treated as unique — patterns stay invisible.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3096" y="3401568"/>
            <a:ext cx="24871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Support teams cannot correlate issues across customers or time windows.
No way to know if 3 customers hit the same root cause.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7463" y="3401568"/>
            <a:ext cx="24871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Every issue is treated in isolation. Escalations happen after damage is done.
CSMs discover churn risk at renewal, not before it.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743200"/>
            <a:ext cx="2788920" cy="35204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1480" y="2743200"/>
            <a:ext cx="54864" cy="352044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2880360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BFA6"/>
                </a:solidFill>
                <a:latin typeface="Calibri"/>
              </a:rPr>
              <a:t>Distributed ops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520439"/>
            <a:ext cx="109728" cy="109728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5528" y="3401568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Field reps + warehouses across low-connectivity zones.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389120"/>
            <a:ext cx="109728" cy="109728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5528" y="4270248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Orders placed offline for hours at a time.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5257799"/>
            <a:ext cx="109728" cy="109728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5528" y="5138927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50+ stops per rep with zero network access.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55848" y="2743200"/>
            <a:ext cx="2788920" cy="35204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355848" y="2743200"/>
            <a:ext cx="54864" cy="3520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538728" y="2880360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A623"/>
                </a:solidFill>
                <a:latin typeface="Calibri"/>
              </a:rPr>
              <a:t>Ticket overflow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38728" y="3520439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39896" y="3401568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100s of tickets per week across all customers.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38728" y="4389120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39896" y="4270248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No tagging, no pattern detection, no triage logic.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38728" y="5257799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739896" y="5138927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Every ticket treated as unique — patterns stay invisible.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0216" y="2743200"/>
            <a:ext cx="2788920" cy="35204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300216" y="2743200"/>
            <a:ext cx="54864" cy="352044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83096" y="2880360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84545"/>
                </a:solidFill>
                <a:latin typeface="Calibri"/>
              </a:rPr>
              <a:t>Zero visibility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83096" y="3520439"/>
            <a:ext cx="109728" cy="109728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84264" y="3401568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Support teams cannot correlate issues across customers.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83096" y="4389120"/>
            <a:ext cx="109728" cy="109728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84264" y="4270248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No cross-time-window analysis.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83096" y="5257799"/>
            <a:ext cx="109728" cy="109728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84264" y="5138927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3 customers hit the same root cause — no one knows.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44584" y="2743200"/>
            <a:ext cx="2788920" cy="35204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244584" y="2743200"/>
            <a:ext cx="54864" cy="3520440"/>
          </a:xfrm>
          <a:prstGeom prst="rect">
            <a:avLst/>
          </a:prstGeom>
          <a:solidFill>
            <a:srgbClr val="CADC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27463" y="2880360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CADCED"/>
                </a:solidFill>
                <a:latin typeface="Calibri"/>
              </a:rPr>
              <a:t>Reactive only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27463" y="3520439"/>
            <a:ext cx="109728" cy="109728"/>
          </a:xfrm>
          <a:prstGeom prst="rect">
            <a:avLst/>
          </a:prstGeom>
          <a:solidFill>
            <a:srgbClr val="CADC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28632" y="3401568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Every issue handled in isolation.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27463" y="4389120"/>
            <a:ext cx="109728" cy="109728"/>
          </a:xfrm>
          <a:prstGeom prst="rect">
            <a:avLst/>
          </a:prstGeom>
          <a:solidFill>
            <a:srgbClr val="CADC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628632" y="4270248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Escalations happen after damage is done.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27463" y="5257799"/>
            <a:ext cx="109728" cy="109728"/>
          </a:xfrm>
          <a:prstGeom prst="rect">
            <a:avLst/>
          </a:prstGeom>
          <a:solidFill>
            <a:srgbClr val="CADC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628632" y="5138927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CSMs discover churn risk at renewal, not before.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1889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2B3A"/>
                </a:solidFill>
                <a:latin typeface="Calibri"/>
              </a:rPr>
              <a:t>Every Unresolved Ticket Has a Dollar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E72"/>
                </a:solidFill>
                <a:latin typeface="Calibri"/>
              </a:rPr>
              <a:t>Support failures don't stay in the support queue — they propagate into revenue, operations, and retention.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57400"/>
            <a:ext cx="11384280" cy="3474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9397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93976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93976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Quantified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404872"/>
            <a:ext cx="11384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404872"/>
            <a:ext cx="54864" cy="82296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569464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C2B3A"/>
                </a:solidFill>
                <a:latin typeface="Calibri"/>
              </a:rPr>
              <a:t>Duplicate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56946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A5E72"/>
                </a:solidFill>
                <a:latin typeface="Calibri"/>
              </a:rPr>
              <a:t>Billing errors, refund cycles, ops 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56946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84545"/>
                </a:solidFill>
                <a:latin typeface="Calibri"/>
              </a:rPr>
              <a:t>$12–40K monthly exposure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00984"/>
            <a:ext cx="11384280" cy="822960"/>
          </a:xfrm>
          <a:prstGeom prst="rect">
            <a:avLst/>
          </a:prstGeom>
          <a:solidFill>
            <a:srgbClr val="EFF4F9"/>
          </a:solidFill>
          <a:ln w="6350">
            <a:solidFill>
              <a:srgbClr val="D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3300984"/>
            <a:ext cx="54864" cy="82296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465576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C2B3A"/>
                </a:solidFill>
                <a:latin typeface="Calibri"/>
              </a:rPr>
              <a:t>Missing deliveries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46557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72"/>
                </a:solidFill>
                <a:latin typeface="Calibri"/>
              </a:rPr>
              <a:t>Lost revenue + SLA penalties per unfulfilled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465576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4545"/>
                </a:solidFill>
                <a:latin typeface="Calibri"/>
              </a:rPr>
              <a:t>Direct ARR leakage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197096"/>
            <a:ext cx="11384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4197096"/>
            <a:ext cx="54864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61688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C2B3A"/>
                </a:solidFill>
                <a:latin typeface="Calibri"/>
              </a:rPr>
              <a:t>Sync delays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36168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72"/>
                </a:solidFill>
                <a:latin typeface="Calibri"/>
              </a:rPr>
              <a:t>Warehouse dispatch misses SLA windows → customer penalty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36168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$800 / breach on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093208"/>
            <a:ext cx="11384280" cy="822960"/>
          </a:xfrm>
          <a:prstGeom prst="rect">
            <a:avLst/>
          </a:prstGeom>
          <a:solidFill>
            <a:srgbClr val="EFF4F9"/>
          </a:solidFill>
          <a:ln w="6350">
            <a:solidFill>
              <a:srgbClr val="D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5093208"/>
            <a:ext cx="54864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25780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C2B3A"/>
                </a:solidFill>
                <a:latin typeface="Calibri"/>
              </a:rPr>
              <a:t>Poor 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5257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72"/>
                </a:solidFill>
                <a:latin typeface="Calibri"/>
              </a:rPr>
              <a:t>CSMs fly blind → churn risk undetected until renewal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52578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$2.4M ARR under threat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0" y="651052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5E72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889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FA6"/>
                </a:solidFill>
                <a:latin typeface="Calibri"/>
              </a:rPr>
              <a:t>SupportDesk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ADCED"/>
                </a:solidFill>
                <a:latin typeface="Calibri"/>
              </a:rPr>
              <a:t>Support Intelligence for GlobalFoods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ED"/>
                </a:solidFill>
                <a:latin typeface="Calibri"/>
              </a:rPr>
              <a:t>Converts raw ticket volume into actionable intelligence.
Built to detect patterns, predict risk, and enable proactive decisions — not just log complaints.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34640"/>
            <a:ext cx="2651760" cy="15087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834640"/>
            <a:ext cx="2651760" cy="64008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BFA6"/>
                </a:solidFill>
                <a:latin typeface="Calibri"/>
              </a:rPr>
              <a:t>AI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Auto-assigns priority, category, and tags on ticket creation.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834640"/>
            <a:ext cx="2651760" cy="15087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2834640"/>
            <a:ext cx="265176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301752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A623"/>
                </a:solidFill>
                <a:latin typeface="Calibri"/>
              </a:rPr>
              <a:t>Customer Linkage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29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Every ticket tied to ARR, health score, and renewal timeline.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834640"/>
            <a:ext cx="2651760" cy="15087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834640"/>
            <a:ext cx="2651760" cy="64008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BFA6"/>
                </a:solidFill>
                <a:latin typeface="Calibri"/>
              </a:rPr>
              <a:t>Pattern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29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Surfaces recurring issues across customer cohorts and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617720"/>
            <a:ext cx="2651760" cy="15087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4617720"/>
            <a:ext cx="2651760" cy="64008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84545"/>
                </a:solidFill>
                <a:latin typeface="Calibri"/>
              </a:rPr>
              <a:t>SLA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Flags breach risk before it happens using due-date + velocity.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4617720"/>
            <a:ext cx="2651760" cy="15087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37560" y="4617720"/>
            <a:ext cx="265176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480060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A623"/>
                </a:solidFill>
                <a:latin typeface="Calibri"/>
              </a:rPr>
              <a:t>Proactive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212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Timeline intelligence: Quarter → Month → Week convergence.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834640"/>
            <a:ext cx="2560320" cy="32918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35440" y="2834640"/>
            <a:ext cx="54864" cy="329184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0" y="297180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0BFA6"/>
                </a:solidFill>
                <a:latin typeface="Calibri"/>
              </a:rPr>
              <a:t>Before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3375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ED"/>
                </a:solidFill>
                <a:latin typeface="Calibri"/>
              </a:rPr>
              <a:t>Reactive
Triaging
Blind spots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4434840"/>
            <a:ext cx="2560320" cy="54864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18320" y="4553712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BFA6"/>
                </a:solidFill>
                <a:latin typeface="Calibri"/>
              </a:rPr>
              <a:t>After</a:t>
            </a:r>
            <a:endParaRPr sz="1100" b="1" i="0" dirty="0">
              <a:solidFill>
                <a:srgbClr val="00BFA6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418320" y="4919472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ED"/>
                </a:solidFill>
                <a:latin typeface="Calibri"/>
              </a:rPr>
              <a:t>Predictive
Pattern-aware
Data-driven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0" y="651052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CED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1889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B3A"/>
                </a:solidFill>
                <a:latin typeface="Calibri"/>
              </a:rPr>
              <a:t>Modular by Design, Extensible by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E72"/>
                </a:solidFill>
                <a:latin typeface="Calibri"/>
              </a:rPr>
              <a:t>Three clean layers — each independently replaceable. No vendor lock-in.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77724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64008" cy="123444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947672"/>
            <a:ext cx="1645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BFA6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50008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  <a:latin typeface="Calibri"/>
              </a:rPr>
              <a:t>Vanilla JS SPA · Hash-based router · Chart.js analytics · No build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9191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E72"/>
                </a:solidFill>
                <a:latin typeface="Calibri"/>
              </a:rPr>
              <a:t>Modular pages: Dashboard, Tickets, Insights Hub, Customers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0" y="2286000"/>
            <a:ext cx="347472" cy="347472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2295144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64408"/>
            <a:ext cx="77724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3264408"/>
            <a:ext cx="64008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337560"/>
            <a:ext cx="1645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A623"/>
                </a:solidFill>
                <a:latin typeface="Calibri"/>
              </a:rPr>
              <a:t>API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39896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  <a:latin typeface="Calibri"/>
              </a:rPr>
              <a:t>Simulated REST (api.js) · CRUD + AI calls · Swappable to FastAPI/Express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6908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E72"/>
                </a:solidFill>
                <a:latin typeface="Calibri"/>
              </a:rPr>
              <a:t>Endpoints: GET /tickets, POST /tickets, PUT /tickets/:id, POST /comments</a:t>
            </a:r>
          </a:p>
        </p:txBody>
      </p:sp>
      <p:sp>
        <p:nvSpPr>
          <p:cNvPr id="20" name="Oval 19"/>
          <p:cNvSpPr/>
          <p:nvPr/>
        </p:nvSpPr>
        <p:spPr>
          <a:xfrm>
            <a:off x="6949440" y="3675887"/>
            <a:ext cx="347472" cy="34747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368503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654296"/>
            <a:ext cx="77724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4654296"/>
            <a:ext cx="64008" cy="123444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727448"/>
            <a:ext cx="1645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84545"/>
                </a:solidFill>
                <a:latin typeface="Calibri"/>
              </a:rPr>
              <a:t>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29783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  <a:latin typeface="Calibri"/>
              </a:rPr>
              <a:t>OpenAI GPT-4o-mini · Structured JSON responses · Timeline-windowed prompts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458968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E72"/>
                </a:solidFill>
                <a:latin typeface="Calibri"/>
              </a:rPr>
              <a:t>Functions: analyzeTicket · generateTimelineInsights · chatWithContext</a:t>
            </a:r>
          </a:p>
        </p:txBody>
      </p:sp>
      <p:sp>
        <p:nvSpPr>
          <p:cNvPr id="27" name="Oval 26"/>
          <p:cNvSpPr/>
          <p:nvPr/>
        </p:nvSpPr>
        <p:spPr>
          <a:xfrm>
            <a:off x="6949440" y="5065776"/>
            <a:ext cx="347472" cy="347472"/>
          </a:xfrm>
          <a:prstGeom prst="ellipse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507492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1874519"/>
            <a:ext cx="3520440" cy="41605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12480" y="1874519"/>
            <a:ext cx="3520440" cy="384048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0" y="192024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Design Principles</a:t>
            </a:r>
          </a:p>
        </p:txBody>
      </p:sp>
      <p:sp>
        <p:nvSpPr>
          <p:cNvPr id="32" name="Oval 31"/>
          <p:cNvSpPr/>
          <p:nvPr/>
        </p:nvSpPr>
        <p:spPr>
          <a:xfrm>
            <a:off x="8549640" y="2496312"/>
            <a:ext cx="182880" cy="18288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23960" y="2423160"/>
            <a:ext cx="2926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ADCED"/>
                </a:solidFill>
                <a:latin typeface="Calibri"/>
              </a:rPr>
              <a:t>Separation of concerns per file</a:t>
            </a:r>
          </a:p>
        </p:txBody>
      </p:sp>
      <p:sp>
        <p:nvSpPr>
          <p:cNvPr id="34" name="Oval 33"/>
          <p:cNvSpPr/>
          <p:nvPr/>
        </p:nvSpPr>
        <p:spPr>
          <a:xfrm>
            <a:off x="8549640" y="3154680"/>
            <a:ext cx="182880" cy="18288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23960" y="3081528"/>
            <a:ext cx="2926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ADCED"/>
                </a:solidFill>
                <a:latin typeface="Calibri"/>
              </a:rPr>
              <a:t>API layer is the only data gateway</a:t>
            </a:r>
          </a:p>
        </p:txBody>
      </p:sp>
      <p:sp>
        <p:nvSpPr>
          <p:cNvPr id="36" name="Oval 35"/>
          <p:cNvSpPr/>
          <p:nvPr/>
        </p:nvSpPr>
        <p:spPr>
          <a:xfrm>
            <a:off x="8549640" y="3813048"/>
            <a:ext cx="182880" cy="18288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23960" y="3739896"/>
            <a:ext cx="2926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ADCED"/>
                </a:solidFill>
                <a:latin typeface="Calibri"/>
              </a:rPr>
              <a:t>AI calls </a:t>
            </a:r>
            <a:r>
              <a:rPr sz="1400" dirty="0">
                <a:solidFill>
                  <a:srgbClr val="CADCED"/>
                </a:solidFill>
                <a:latin typeface="Calibri"/>
              </a:rPr>
              <a:t>centralized</a:t>
            </a:r>
            <a:r>
              <a:rPr sz="1400" b="0" i="0" dirty="0">
                <a:solidFill>
                  <a:srgbClr val="CADCED"/>
                </a:solidFill>
                <a:latin typeface="Calibri"/>
              </a:rPr>
              <a:t> in ai.js</a:t>
            </a:r>
          </a:p>
        </p:txBody>
      </p:sp>
      <p:sp>
        <p:nvSpPr>
          <p:cNvPr id="38" name="Oval 37"/>
          <p:cNvSpPr/>
          <p:nvPr/>
        </p:nvSpPr>
        <p:spPr>
          <a:xfrm>
            <a:off x="8549640" y="4471416"/>
            <a:ext cx="182880" cy="18288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23960" y="4398264"/>
            <a:ext cx="2926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ADCED"/>
                </a:solidFill>
                <a:latin typeface="Calibri"/>
              </a:rPr>
              <a:t>All state in memory — swap to DB in one file</a:t>
            </a:r>
          </a:p>
        </p:txBody>
      </p:sp>
      <p:sp>
        <p:nvSpPr>
          <p:cNvPr id="40" name="Oval 39"/>
          <p:cNvSpPr/>
          <p:nvPr/>
        </p:nvSpPr>
        <p:spPr>
          <a:xfrm>
            <a:off x="8549640" y="5129783"/>
            <a:ext cx="182880" cy="18288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23960" y="5056631"/>
            <a:ext cx="2926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ADCED"/>
                </a:solidFill>
                <a:latin typeface="Calibri"/>
              </a:rPr>
              <a:t>Routes map 1:1 to page render functions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430000" y="651052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5E72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889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Entities Built for Pattern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ED"/>
                </a:solidFill>
                <a:latin typeface="Calibri"/>
              </a:rPr>
              <a:t>Schema decisions — not CRUD decisions. Every field earns its place by enabling intelligence.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5394960" cy="44348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5394960" cy="384048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892807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11095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CADCED"/>
                </a:solidFill>
                <a:latin typeface="Calibri"/>
              </a:rPr>
              <a:t>24 seed records · enriched schema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9152"/>
            <a:ext cx="521208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6"/>
                </a:solidFill>
                <a:latin typeface="Consolas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4231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Unique identifier — links to customer &amp; activity 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07792"/>
            <a:ext cx="521208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9718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onsolas"/>
              </a:rPr>
              <a:t>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9718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critical / high / medium / low — AI-assigned or manual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56432"/>
            <a:ext cx="521208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ED"/>
                </a:solidFill>
                <a:latin typeface="Consolas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5204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open / in-progress / resolved / closed — drives SLA calc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05072"/>
            <a:ext cx="521208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ED"/>
                </a:solidFill>
                <a:latin typeface="Consolas"/>
              </a:rP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06908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Bug / Incident / Feature / Query — enables cluster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53712"/>
            <a:ext cx="521208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545"/>
                </a:solidFill>
                <a:latin typeface="Consolas"/>
              </a:rPr>
              <a:t>tags[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617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Free-form array — primary signal for pattern 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02352"/>
            <a:ext cx="521208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1663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onsolas"/>
              </a:rPr>
              <a:t>created_at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1663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ISO timestamp — enables Quarter→Month→Week windowing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650992"/>
            <a:ext cx="521208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6"/>
                </a:solidFill>
                <a:latin typeface="Consolas"/>
              </a:rPr>
              <a:t>sentiment_score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7150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1–9 integer — Positive / Neutral / Negative per window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828800"/>
            <a:ext cx="5760720" cy="44348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80760" y="1828800"/>
            <a:ext cx="5760720" cy="384048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1892807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1911095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CADCED"/>
                </a:solidFill>
                <a:latin typeface="Calibri"/>
              </a:rPr>
              <a:t>5 enterprise accounts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359152"/>
            <a:ext cx="557784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2423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6"/>
                </a:solidFill>
                <a:latin typeface="Consolas"/>
              </a:rPr>
              <a:t>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242316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CUST-001…005 — FK on every ticket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907792"/>
            <a:ext cx="557784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2971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onsolas"/>
              </a:rPr>
              <a:t>arr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297180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Annual Recurring Revenue — risk calculation basis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456432"/>
            <a:ext cx="557784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0" y="35204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545"/>
                </a:solidFill>
                <a:latin typeface="Consolas"/>
              </a:rPr>
              <a:t>health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352044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0–100 score — drives at-risk ranking in AI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4005072"/>
            <a:ext cx="557784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9360" y="4069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ED"/>
                </a:solidFill>
                <a:latin typeface="Consolas"/>
              </a:rPr>
              <a:t>industry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79" y="406908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Food / Pharma / Logistics — enables cohort queries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553712"/>
            <a:ext cx="557784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09360" y="4617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ED"/>
                </a:solidFill>
                <a:latin typeface="Consolas"/>
              </a:rPr>
              <a:t>plan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461772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Enterprise / Business — SLA tier selector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4937760"/>
            <a:ext cx="5760720" cy="11430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63640" y="50109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6"/>
                </a:solidFill>
                <a:latin typeface="Calibri"/>
              </a:rPr>
              <a:t>Why tags + created_at are the intelligence layer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39496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CED"/>
                </a:solidFill>
                <a:latin typeface="Calibri"/>
              </a:rPr>
              <a:t>Tags cluster recurring themes. Timestamps place them in Quarter/Month/Week windows.
Together they answer: 'Is this a new problem or a worsening pattern?'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430000" y="651052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CED"/>
                </a:solidFill>
                <a:latin typeface="Calibri"/>
              </a:rPr>
              <a:t>5 / 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5650992"/>
            <a:ext cx="521208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" y="57150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6"/>
                </a:solidFill>
                <a:latin typeface="Consolas"/>
              </a:rPr>
              <a:t>sentiment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48840" y="57150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D"/>
                </a:solidFill>
                <a:latin typeface="Calibri"/>
              </a:rPr>
              <a:t>1–9 integer — Positive / Neutral / Negative per window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9463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AI INSIGHTS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3A"/>
                </a:solidFill>
                <a:latin typeface="Calibri"/>
              </a:rPr>
              <a:t>The Key Differentiator: Timeline-Aware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E72"/>
                </a:solidFill>
                <a:latin typeface="Calibri"/>
              </a:rPr>
              <a:t>Three windows. Three tones. One root cause — detected before the escalation.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3749039" cy="434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3749039" cy="475488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83664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Last Quarter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920240"/>
            <a:ext cx="11887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1929384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STABLE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" y="2532888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2470295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Sync + offline tags appear on 78% of tickets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" y="3401568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291839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No customer escalations — system appears healthy</a:t>
            </a:r>
          </a:p>
        </p:txBody>
      </p:sp>
      <p:sp>
        <p:nvSpPr>
          <p:cNvPr id="17" name="Oval 16"/>
          <p:cNvSpPr/>
          <p:nvPr/>
        </p:nvSpPr>
        <p:spPr>
          <a:xfrm>
            <a:off x="576072" y="4270248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16052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Platform Health Monitor: 97.3% sync success rate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" y="5138928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502920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Weak signal: QuickShip reports batch latency (low severity)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828800"/>
            <a:ext cx="3749039" cy="434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1828800"/>
            <a:ext cx="3749039" cy="475488"/>
          </a:xfrm>
          <a:prstGeom prst="rect">
            <a:avLst/>
          </a:prstGeom>
          <a:solidFill>
            <a:srgbClr val="7A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1883664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Last 30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920240"/>
            <a:ext cx="1188720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1929384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C2B3A"/>
                </a:solidFill>
                <a:latin typeface="Calibri"/>
              </a:rPr>
              <a:t>CONCERN</a:t>
            </a:r>
            <a:endParaRPr sz="1000" b="1" i="0" dirty="0">
              <a:solidFill>
                <a:srgbClr val="1C2B3A"/>
              </a:solidFill>
              <a:latin typeface="Calibr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07992" y="2532888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82312" y="2470295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iOS BGProcessingTask failures spike — 3 tickets</a:t>
            </a:r>
          </a:p>
        </p:txBody>
      </p:sp>
      <p:sp>
        <p:nvSpPr>
          <p:cNvPr id="28" name="Oval 27"/>
          <p:cNvSpPr/>
          <p:nvPr/>
        </p:nvSpPr>
        <p:spPr>
          <a:xfrm>
            <a:off x="4507992" y="3401568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82312" y="3291839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Finance ops flags unexplained order-count discrepancy</a:t>
            </a:r>
          </a:p>
        </p:txBody>
      </p:sp>
      <p:sp>
        <p:nvSpPr>
          <p:cNvPr id="30" name="Oval 29"/>
          <p:cNvSpPr/>
          <p:nvPr/>
        </p:nvSpPr>
        <p:spPr>
          <a:xfrm>
            <a:off x="4507992" y="4270248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82312" y="416052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WMS timeout misdiagnosed as infrastructure — not upstream</a:t>
            </a:r>
          </a:p>
        </p:txBody>
      </p:sp>
      <p:sp>
        <p:nvSpPr>
          <p:cNvPr id="32" name="Oval 31"/>
          <p:cNvSpPr/>
          <p:nvPr/>
        </p:nvSpPr>
        <p:spPr>
          <a:xfrm>
            <a:off x="4507992" y="5138928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82312" y="502920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Root cause not yet confirmed — investigation ongoing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9" y="1828800"/>
            <a:ext cx="3749039" cy="434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75319" y="1828800"/>
            <a:ext cx="3749039" cy="47548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1883664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Last 7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0" y="1920240"/>
            <a:ext cx="1188720" cy="27432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698480" y="1929384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ALERT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439911" y="2532888"/>
            <a:ext cx="164592" cy="164592"/>
          </a:xfrm>
          <a:prstGeom prst="ellipse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14232" y="2451441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1C2B3A"/>
                </a:solidFill>
                <a:latin typeface="Calibri"/>
              </a:rPr>
              <a:t>2 critical anchors: TKT-1002 (idempotency) + TKT-1020 (VP notice)</a:t>
            </a:r>
          </a:p>
        </p:txBody>
      </p:sp>
      <p:sp>
        <p:nvSpPr>
          <p:cNvPr id="41" name="Oval 40"/>
          <p:cNvSpPr/>
          <p:nvPr/>
        </p:nvSpPr>
        <p:spPr>
          <a:xfrm>
            <a:off x="8439911" y="3401568"/>
            <a:ext cx="164592" cy="164592"/>
          </a:xfrm>
          <a:prstGeom prst="ellipse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14232" y="3291839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$67K financial exposure confirmed — 47 duplicate order pairs</a:t>
            </a:r>
          </a:p>
        </p:txBody>
      </p:sp>
      <p:sp>
        <p:nvSpPr>
          <p:cNvPr id="43" name="Oval 42"/>
          <p:cNvSpPr/>
          <p:nvPr/>
        </p:nvSpPr>
        <p:spPr>
          <a:xfrm>
            <a:off x="8439911" y="4270248"/>
            <a:ext cx="164592" cy="164592"/>
          </a:xfrm>
          <a:prstGeom prst="ellipse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14232" y="416052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Duplicate rate 3.2x baseline · sync failure 6.1% → 18.4%</a:t>
            </a:r>
          </a:p>
        </p:txBody>
      </p:sp>
      <p:sp>
        <p:nvSpPr>
          <p:cNvPr id="45" name="Oval 44"/>
          <p:cNvSpPr/>
          <p:nvPr/>
        </p:nvSpPr>
        <p:spPr>
          <a:xfrm>
            <a:off x="8439911" y="5138928"/>
            <a:ext cx="164592" cy="164592"/>
          </a:xfrm>
          <a:prstGeom prst="ellipse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14232" y="502920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One fix (Idempotency-Key header) resolves 80% of active issues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887200" y="1828800"/>
            <a:ext cx="0" cy="434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11480" y="6291072"/>
            <a:ext cx="11612878" cy="3474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94360" y="6374500"/>
            <a:ext cx="137160" cy="13716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8393" y="6309360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Recurring pattern detection</a:t>
            </a:r>
          </a:p>
        </p:txBody>
      </p:sp>
      <p:sp>
        <p:nvSpPr>
          <p:cNvPr id="51" name="Oval 50"/>
          <p:cNvSpPr/>
          <p:nvPr/>
        </p:nvSpPr>
        <p:spPr>
          <a:xfrm>
            <a:off x="2882058" y="6383927"/>
            <a:ext cx="137160" cy="13716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26664" y="6309925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Customer ARR risk ranking</a:t>
            </a:r>
          </a:p>
        </p:txBody>
      </p:sp>
      <p:sp>
        <p:nvSpPr>
          <p:cNvPr id="53" name="Oval 52"/>
          <p:cNvSpPr/>
          <p:nvPr/>
        </p:nvSpPr>
        <p:spPr>
          <a:xfrm>
            <a:off x="5141475" y="6383927"/>
            <a:ext cx="137160" cy="13716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86081" y="6309360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SLA breach predictions</a:t>
            </a:r>
          </a:p>
        </p:txBody>
      </p:sp>
      <p:sp>
        <p:nvSpPr>
          <p:cNvPr id="55" name="Oval 54"/>
          <p:cNvSpPr/>
          <p:nvPr/>
        </p:nvSpPr>
        <p:spPr>
          <a:xfrm>
            <a:off x="7165217" y="6383927"/>
            <a:ext cx="137160" cy="13716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9250" y="6309360"/>
            <a:ext cx="2022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Urgency / sentiment scoring</a:t>
            </a:r>
          </a:p>
        </p:txBody>
      </p:sp>
      <p:sp>
        <p:nvSpPr>
          <p:cNvPr id="57" name="Oval 56"/>
          <p:cNvSpPr/>
          <p:nvPr/>
        </p:nvSpPr>
        <p:spPr>
          <a:xfrm>
            <a:off x="9471769" y="6383927"/>
            <a:ext cx="137160" cy="13716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606947" y="6309360"/>
            <a:ext cx="2385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Conversational Q&amp;A — full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9463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DEVREV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SupportDesk + DevRev Computer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CED"/>
                </a:solidFill>
                <a:latin typeface="Calibri"/>
              </a:rPr>
              <a:t>SupportDesk generates the signal. DevRev amplifies it across the enterprise.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11680"/>
            <a:ext cx="3749039" cy="19202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2011680"/>
            <a:ext cx="64008" cy="192024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00BFA6"/>
                </a:solidFill>
                <a:latin typeface="Calibri"/>
              </a:rPr>
              <a:t>SupportDesk</a:t>
            </a:r>
            <a:r>
              <a:rPr sz="1600" b="1" i="0" dirty="0">
                <a:solidFill>
                  <a:srgbClr val="00BFA6"/>
                </a:solidFill>
                <a:latin typeface="Calibri"/>
              </a:rPr>
              <a:t>
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Structured tickets · Tagged patterns · Timeline insights · ARR risk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4688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FA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011680"/>
            <a:ext cx="3749039" cy="19202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011680"/>
            <a:ext cx="64008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DevRev
Computer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4320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AirSync ingestion · Knowledge Graph indexing · Cross-source AI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688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FA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2011680"/>
            <a:ext cx="3749039" cy="19202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19" y="2011680"/>
            <a:ext cx="64008" cy="192024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199" y="21031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4545"/>
                </a:solidFill>
                <a:latin typeface="Calibri"/>
              </a:rPr>
              <a:t>Enterprise
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9" y="274320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Product roadmap signals · Auto-fix triggers · Proactive CSM alerts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160520"/>
            <a:ext cx="5486400" cy="10058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4160520"/>
            <a:ext cx="64008" cy="100584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25195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A6"/>
                </a:solidFill>
                <a:latin typeface="Calibri"/>
              </a:rPr>
              <a:t>AI Clustering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3600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Group SupportDesk tickets by root cause across Jira + Drive + Notion in one query.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4160520"/>
            <a:ext cx="5486400" cy="10058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80760" y="4160520"/>
            <a:ext cx="64008" cy="100584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425195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A6"/>
                </a:solidFill>
                <a:latin typeface="Calibri"/>
              </a:rPr>
              <a:t>Product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63600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Surface recurring failure patterns as PRD gap evidence — not anecdotal.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276088"/>
            <a:ext cx="5486400" cy="10058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5276088"/>
            <a:ext cx="64008" cy="100584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536752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A6"/>
                </a:solidFill>
                <a:latin typeface="Calibri"/>
              </a:rPr>
              <a:t>Auto-Fix Triggers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51575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Idempotency issue detected → Jira ticket created → sprint auto-slotted.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5276088"/>
            <a:ext cx="5486400" cy="100584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80760" y="5276088"/>
            <a:ext cx="64008" cy="100584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536752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A6"/>
                </a:solidFill>
                <a:latin typeface="Calibri"/>
              </a:rPr>
              <a:t>Customer Risk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751575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ED"/>
                </a:solidFill>
                <a:latin typeface="Calibri"/>
              </a:rPr>
              <a:t>Health score drop in SupportDesk → CSM alert in DevRev → renewal 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36208"/>
            <a:ext cx="12188952" cy="502920"/>
          </a:xfrm>
          <a:prstGeom prst="rect">
            <a:avLst/>
          </a:prstGeom>
          <a:solidFill>
            <a:srgbClr val="008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301065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err="1">
                <a:solidFill>
                  <a:srgbClr val="FFFFFF"/>
                </a:solidFill>
                <a:latin typeface="Calibri"/>
              </a:rPr>
              <a:t>SupportDesk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is the data layer.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DevRev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is the reasoning layer. Together they close the loop from signal to action.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1052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CED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1195</Words>
  <Application>Microsoft Office PowerPoint</Application>
  <PresentationFormat>Custom</PresentationFormat>
  <Paragraphs>173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Chandana B</cp:lastModifiedBy>
  <cp:revision>2</cp:revision>
  <dcterms:created xsi:type="dcterms:W3CDTF">2013-01-27T09:14:16Z</dcterms:created>
  <dcterms:modified xsi:type="dcterms:W3CDTF">2026-04-19T19:07:15Z</dcterms:modified>
  <cp:category/>
</cp:coreProperties>
</file>